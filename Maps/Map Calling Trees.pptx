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3" r:id="rId2"/>
    <p:sldId id="257" r:id="rId3"/>
    <p:sldId id="258" r:id="rId4"/>
    <p:sldId id="259" r:id="rId5"/>
    <p:sldId id="260" r:id="rId6"/>
    <p:sldId id="262" r:id="rId7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40" d="100"/>
          <a:sy n="40" d="100"/>
        </p:scale>
        <p:origin x="2664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71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058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89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648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81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460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188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423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613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026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857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28A198-E1B1-4E07-BA63-B848E5929EE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066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B18E8-03C6-AFC6-02BE-0E22C3791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Routines Calling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0A609-764A-A6EB-C6C8-FA44FCB0F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Needs major update since splitting creation, plotting, and analysis routines – SMH 2025-11-20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394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25D3435-F86E-61C4-699C-631907598578}"/>
              </a:ext>
            </a:extLst>
          </p:cNvPr>
          <p:cNvSpPr/>
          <p:nvPr/>
        </p:nvSpPr>
        <p:spPr>
          <a:xfrm>
            <a:off x="5694354" y="1289310"/>
            <a:ext cx="486729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continousmapscript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983044-7569-083B-B671-810478ACCD99}"/>
              </a:ext>
            </a:extLst>
          </p:cNvPr>
          <p:cNvSpPr/>
          <p:nvPr/>
        </p:nvSpPr>
        <p:spPr>
          <a:xfrm>
            <a:off x="5694354" y="3022354"/>
            <a:ext cx="486729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MakeContiguousMap</a:t>
            </a:r>
            <a:endParaRPr lang="en-US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2F1E76-C2DF-1D3B-9151-1B8E3375D628}"/>
              </a:ext>
            </a:extLst>
          </p:cNvPr>
          <p:cNvSpPr/>
          <p:nvPr/>
        </p:nvSpPr>
        <p:spPr>
          <a:xfrm>
            <a:off x="8200981" y="4834614"/>
            <a:ext cx="173105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plot_patch</a:t>
            </a:r>
            <a:endParaRPr lang="en-US"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7FDA8A-9778-2043-F4BA-1467B67CB2CA}"/>
              </a:ext>
            </a:extLst>
          </p:cNvPr>
          <p:cNvSpPr/>
          <p:nvPr/>
        </p:nvSpPr>
        <p:spPr>
          <a:xfrm>
            <a:off x="6079559" y="4834614"/>
            <a:ext cx="194691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</a:t>
            </a:r>
            <a:endParaRPr lang="en-US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992E4D5-CE59-830E-E1E8-46641C600A5B}"/>
              </a:ext>
            </a:extLst>
          </p:cNvPr>
          <p:cNvSpPr/>
          <p:nvPr/>
        </p:nvSpPr>
        <p:spPr>
          <a:xfrm>
            <a:off x="10064593" y="4816040"/>
            <a:ext cx="3802581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plot_contours_on_patch</a:t>
            </a:r>
            <a:endParaRPr lang="en-US" sz="2400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EC6EDC9-9C17-E37A-671E-A22873EE8D02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16200000" flipH="1">
            <a:off x="8090395" y="3858499"/>
            <a:ext cx="1013720" cy="938508"/>
          </a:xfrm>
          <a:prstGeom prst="bentConnector3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B44507D-ECD0-593B-7631-6F03FDBA7DD1}"/>
              </a:ext>
            </a:extLst>
          </p:cNvPr>
          <p:cNvSpPr/>
          <p:nvPr/>
        </p:nvSpPr>
        <p:spPr>
          <a:xfrm>
            <a:off x="2522956" y="4834614"/>
            <a:ext cx="3401491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read_fits_map_L2_L3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3B82C70-3665-749B-26E9-8F9A53315B39}"/>
              </a:ext>
            </a:extLst>
          </p:cNvPr>
          <p:cNvSpPr/>
          <p:nvPr/>
        </p:nvSpPr>
        <p:spPr>
          <a:xfrm>
            <a:off x="-827719" y="4795702"/>
            <a:ext cx="3216545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get_map_collection</a:t>
            </a:r>
            <a:endParaRPr lang="en-US" sz="24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89CB932-B866-0DC1-41F9-69785589B9FB}"/>
              </a:ext>
            </a:extLst>
          </p:cNvPr>
          <p:cNvSpPr/>
          <p:nvPr/>
        </p:nvSpPr>
        <p:spPr>
          <a:xfrm>
            <a:off x="14022286" y="4804088"/>
            <a:ext cx="2233714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find_extrema</a:t>
            </a:r>
            <a:endParaRPr lang="en-US" sz="2400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2197451-BE66-79D4-6AA9-CD38E9B59C02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8128000" y="2087850"/>
            <a:ext cx="0" cy="934504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51B3ED96-35B7-AA46-52AC-4AC83CFC7B12}"/>
              </a:ext>
            </a:extLst>
          </p:cNvPr>
          <p:cNvCxnSpPr>
            <a:cxnSpLocks/>
            <a:stCxn id="3" idx="2"/>
            <a:endCxn id="28" idx="0"/>
          </p:cNvCxnSpPr>
          <p:nvPr/>
        </p:nvCxnSpPr>
        <p:spPr>
          <a:xfrm rot="16200000" flipH="1">
            <a:off x="11141977" y="806919"/>
            <a:ext cx="983194" cy="7011143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C7E42D90-26B2-26B4-13DB-E9DFF78D2B85}"/>
              </a:ext>
            </a:extLst>
          </p:cNvPr>
          <p:cNvCxnSpPr>
            <a:cxnSpLocks/>
            <a:stCxn id="3" idx="2"/>
            <a:endCxn id="27" idx="0"/>
          </p:cNvCxnSpPr>
          <p:nvPr/>
        </p:nvCxnSpPr>
        <p:spPr>
          <a:xfrm rot="5400000">
            <a:off x="3966875" y="634573"/>
            <a:ext cx="974808" cy="7347447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918EB7E1-25D7-0DC7-A479-33626E1C557C}"/>
              </a:ext>
            </a:extLst>
          </p:cNvPr>
          <p:cNvCxnSpPr>
            <a:cxnSpLocks/>
            <a:stCxn id="3" idx="2"/>
            <a:endCxn id="26" idx="0"/>
          </p:cNvCxnSpPr>
          <p:nvPr/>
        </p:nvCxnSpPr>
        <p:spPr>
          <a:xfrm rot="5400000">
            <a:off x="5668993" y="2375603"/>
            <a:ext cx="1013720" cy="3904299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CEB9C74-D5DE-F86E-EBEA-41E6984D888E}"/>
              </a:ext>
            </a:extLst>
          </p:cNvPr>
          <p:cNvCxnSpPr>
            <a:cxnSpLocks/>
            <a:stCxn id="3" idx="2"/>
            <a:endCxn id="6" idx="0"/>
          </p:cNvCxnSpPr>
          <p:nvPr/>
        </p:nvCxnSpPr>
        <p:spPr>
          <a:xfrm rot="5400000">
            <a:off x="7083651" y="3790263"/>
            <a:ext cx="1013720" cy="1074984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02518D63-B849-6E76-2E15-44BD53CF4AE5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9549370" y="2399524"/>
            <a:ext cx="995145" cy="3837883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330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FCBA9-07E0-E157-6EED-6D871D2C2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A97054C-7FC5-5680-E88A-1B2343596617}"/>
              </a:ext>
            </a:extLst>
          </p:cNvPr>
          <p:cNvSpPr/>
          <p:nvPr/>
        </p:nvSpPr>
        <p:spPr>
          <a:xfrm>
            <a:off x="5694354" y="4971470"/>
            <a:ext cx="486729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ROI_Script</a:t>
            </a:r>
            <a:endParaRPr lang="en-US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98B949-1C75-83D6-50C1-8DE019987F99}"/>
              </a:ext>
            </a:extLst>
          </p:cNvPr>
          <p:cNvSpPr/>
          <p:nvPr/>
        </p:nvSpPr>
        <p:spPr>
          <a:xfrm>
            <a:off x="372821" y="6748283"/>
            <a:ext cx="3254675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L3_Jup_Map_Plot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1A4E68-1FE8-8B2B-FBE8-8114ED0E477F}"/>
              </a:ext>
            </a:extLst>
          </p:cNvPr>
          <p:cNvSpPr/>
          <p:nvPr/>
        </p:nvSpPr>
        <p:spPr>
          <a:xfrm>
            <a:off x="3831699" y="6754098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MakeContiguousMap</a:t>
            </a:r>
            <a:endParaRPr lang="en-US" sz="2400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9A9A2AF-2A51-7086-27FE-0BB507FCA2AF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rot="5400000">
            <a:off x="6457462" y="5083561"/>
            <a:ext cx="984088" cy="2356990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D085133-02B3-9132-D4F4-BA0A03161A7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574946" y="3195227"/>
            <a:ext cx="978273" cy="6127841"/>
          </a:xfrm>
          <a:prstGeom prst="bentConnector3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0DBD2BD-35D5-A2C2-0E32-26B465005E57}"/>
              </a:ext>
            </a:extLst>
          </p:cNvPr>
          <p:cNvSpPr/>
          <p:nvPr/>
        </p:nvSpPr>
        <p:spPr>
          <a:xfrm>
            <a:off x="12012501" y="6753477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NEDF_ROI_collections</a:t>
            </a:r>
            <a:endParaRPr lang="en-US" sz="24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9B78DEF-1E1F-3A8C-91F7-A90923AF454D}"/>
              </a:ext>
            </a:extLst>
          </p:cNvPr>
          <p:cNvSpPr/>
          <p:nvPr/>
        </p:nvSpPr>
        <p:spPr>
          <a:xfrm>
            <a:off x="7922100" y="6759061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get_map_collection</a:t>
            </a:r>
            <a:endParaRPr lang="en-US" sz="2400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4612947B-0BFA-6AC1-7AB6-8B0A2790E1F0}"/>
              </a:ext>
            </a:extLst>
          </p:cNvPr>
          <p:cNvCxnSpPr>
            <a:cxnSpLocks/>
            <a:stCxn id="3" idx="2"/>
            <a:endCxn id="27" idx="0"/>
          </p:cNvCxnSpPr>
          <p:nvPr/>
        </p:nvCxnSpPr>
        <p:spPr>
          <a:xfrm rot="16200000" flipH="1">
            <a:off x="8500179" y="5397830"/>
            <a:ext cx="989051" cy="1733412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79D2CE0A-D92E-80AB-EB3B-6AB8D94DC0E3}"/>
              </a:ext>
            </a:extLst>
          </p:cNvPr>
          <p:cNvCxnSpPr>
            <a:cxnSpLocks/>
            <a:stCxn id="3" idx="2"/>
            <a:endCxn id="26" idx="0"/>
          </p:cNvCxnSpPr>
          <p:nvPr/>
        </p:nvCxnSpPr>
        <p:spPr>
          <a:xfrm rot="16200000" flipH="1">
            <a:off x="10548172" y="3349837"/>
            <a:ext cx="983467" cy="5823813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7876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E8AF2-7493-EB83-D4E1-29E491C21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CE876B4-5BA6-9329-3C90-4EA09E7AB351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5400000">
            <a:off x="3585417" y="925202"/>
            <a:ext cx="2144351" cy="5762332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5899705-0BF2-A7E8-3554-64DF2F638B79}"/>
              </a:ext>
            </a:extLst>
          </p:cNvPr>
          <p:cNvSpPr/>
          <p:nvPr/>
        </p:nvSpPr>
        <p:spPr>
          <a:xfrm>
            <a:off x="5911422" y="1935652"/>
            <a:ext cx="3254675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L3_Jup_Map_Plot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BC36D6-23C8-71FC-FE02-DC1201F4FB26}"/>
              </a:ext>
            </a:extLst>
          </p:cNvPr>
          <p:cNvSpPr/>
          <p:nvPr/>
        </p:nvSpPr>
        <p:spPr>
          <a:xfrm>
            <a:off x="483551" y="4878543"/>
            <a:ext cx="258575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</a:t>
            </a:r>
            <a:endParaRPr lang="en-US" sz="2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1088B1F-F83F-7618-1F23-E8A6992A77DE}"/>
              </a:ext>
            </a:extLst>
          </p:cNvPr>
          <p:cNvSpPr/>
          <p:nvPr/>
        </p:nvSpPr>
        <p:spPr>
          <a:xfrm>
            <a:off x="3512427" y="4888288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read_fits_map_L2_L3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4FED5FA-DABF-B93D-3671-8FDF8B924013}"/>
              </a:ext>
            </a:extLst>
          </p:cNvPr>
          <p:cNvSpPr/>
          <p:nvPr/>
        </p:nvSpPr>
        <p:spPr>
          <a:xfrm>
            <a:off x="7834174" y="4878545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map_and_context</a:t>
            </a:r>
            <a:endParaRPr lang="en-US" sz="2400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5408430-6FFB-51FE-DD6C-CB199ABE508A}"/>
              </a:ext>
            </a:extLst>
          </p:cNvPr>
          <p:cNvSpPr/>
          <p:nvPr/>
        </p:nvSpPr>
        <p:spPr>
          <a:xfrm>
            <a:off x="12008211" y="4878545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map_and_scatter</a:t>
            </a:r>
            <a:endParaRPr lang="en-US" sz="24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7753BABF-6F0E-B9E2-7839-F366A3AAEB82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rot="16200000" flipH="1">
            <a:off x="7583947" y="2689005"/>
            <a:ext cx="2144353" cy="2234726"/>
          </a:xfrm>
          <a:prstGeom prst="bentConnector3">
            <a:avLst/>
          </a:prstGeom>
          <a:ln w="635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7928408B-47E6-74CE-758F-2FD2320162A2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16200000" flipH="1">
            <a:off x="9670965" y="601986"/>
            <a:ext cx="2144353" cy="6408763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443BB493-6BA7-4AC9-7F22-058A5BC0C230}"/>
              </a:ext>
            </a:extLst>
          </p:cNvPr>
          <p:cNvCxnSpPr>
            <a:cxnSpLocks/>
            <a:stCxn id="4" idx="2"/>
            <a:endCxn id="13" idx="0"/>
          </p:cNvCxnSpPr>
          <p:nvPr/>
        </p:nvCxnSpPr>
        <p:spPr>
          <a:xfrm rot="5400000">
            <a:off x="5418203" y="2767728"/>
            <a:ext cx="2154095" cy="2087021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663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9BCD9-04A0-2084-B05D-8CE4409A5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0977E15-9EC1-7F14-0EBC-1CCF21F027DE}"/>
              </a:ext>
            </a:extLst>
          </p:cNvPr>
          <p:cNvSpPr/>
          <p:nvPr/>
        </p:nvSpPr>
        <p:spPr>
          <a:xfrm>
            <a:off x="601993" y="7695755"/>
            <a:ext cx="258575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</a:t>
            </a:r>
            <a:endParaRPr lang="en-US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E82D27-6634-99FC-0675-0D62C664317F}"/>
              </a:ext>
            </a:extLst>
          </p:cNvPr>
          <p:cNvSpPr/>
          <p:nvPr/>
        </p:nvSpPr>
        <p:spPr>
          <a:xfrm>
            <a:off x="6570764" y="7695755"/>
            <a:ext cx="4927355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plot_contours_on_patch</a:t>
            </a:r>
            <a:endParaRPr lang="en-US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D0B181-6BF1-D83B-0B8A-D39E291E7CB7}"/>
              </a:ext>
            </a:extLst>
          </p:cNvPr>
          <p:cNvSpPr/>
          <p:nvPr/>
        </p:nvSpPr>
        <p:spPr>
          <a:xfrm>
            <a:off x="4044030" y="7695755"/>
            <a:ext cx="2166049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plot_patch</a:t>
            </a:r>
            <a:endParaRPr lang="en-US" sz="24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19FED2-8B9A-EDE2-E568-6866364288EE}"/>
              </a:ext>
            </a:extLst>
          </p:cNvPr>
          <p:cNvSpPr/>
          <p:nvPr/>
        </p:nvSpPr>
        <p:spPr>
          <a:xfrm>
            <a:off x="12083029" y="7695755"/>
            <a:ext cx="3336846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make_patch_RGB</a:t>
            </a:r>
            <a:endParaRPr lang="en-US" sz="2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92565F1-45CC-3EB2-8887-A32AFA9AE92C}"/>
              </a:ext>
            </a:extLst>
          </p:cNvPr>
          <p:cNvSpPr/>
          <p:nvPr/>
        </p:nvSpPr>
        <p:spPr>
          <a:xfrm>
            <a:off x="5573227" y="4871454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map_and_context</a:t>
            </a:r>
            <a:endParaRPr lang="en-US" sz="2400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1C161A02-44FB-A4D3-C64A-26AD39789F67}"/>
              </a:ext>
            </a:extLst>
          </p:cNvPr>
          <p:cNvCxnSpPr>
            <a:cxnSpLocks/>
            <a:stCxn id="20" idx="2"/>
            <a:endCxn id="12" idx="0"/>
          </p:cNvCxnSpPr>
          <p:nvPr/>
        </p:nvCxnSpPr>
        <p:spPr>
          <a:xfrm rot="16200000" flipH="1">
            <a:off x="9619115" y="3563418"/>
            <a:ext cx="2025761" cy="6238914"/>
          </a:xfrm>
          <a:prstGeom prst="bentConnector3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232E83AB-49F7-6607-EEFA-224FCEB3E35F}"/>
              </a:ext>
            </a:extLst>
          </p:cNvPr>
          <p:cNvCxnSpPr>
            <a:cxnSpLocks/>
            <a:stCxn id="20" idx="2"/>
            <a:endCxn id="11" idx="0"/>
          </p:cNvCxnSpPr>
          <p:nvPr/>
        </p:nvCxnSpPr>
        <p:spPr>
          <a:xfrm rot="5400000">
            <a:off x="5306916" y="5490133"/>
            <a:ext cx="2025761" cy="2385484"/>
          </a:xfrm>
          <a:prstGeom prst="bentConnector3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A164A8-8808-19C1-F72E-9DA315FACB22}"/>
              </a:ext>
            </a:extLst>
          </p:cNvPr>
          <p:cNvCxnSpPr>
            <a:cxnSpLocks/>
            <a:stCxn id="20" idx="2"/>
            <a:endCxn id="7" idx="0"/>
          </p:cNvCxnSpPr>
          <p:nvPr/>
        </p:nvCxnSpPr>
        <p:spPr>
          <a:xfrm rot="16200000" flipH="1">
            <a:off x="7260608" y="5921923"/>
            <a:ext cx="2025761" cy="1521903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AE816DF-B219-8530-54BE-2891E2362FF5}"/>
              </a:ext>
            </a:extLst>
          </p:cNvPr>
          <p:cNvSpPr txBox="1"/>
          <p:nvPr/>
        </p:nvSpPr>
        <p:spPr>
          <a:xfrm>
            <a:off x="2504548" y="1054586"/>
            <a:ext cx="1124690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12810" indent="-81281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C00000"/>
                </a:solidFill>
              </a:rPr>
              <a:t>Can we make </a:t>
            </a:r>
            <a:r>
              <a:rPr lang="en-US" sz="2800" dirty="0" err="1">
                <a:solidFill>
                  <a:srgbClr val="C00000"/>
                </a:solidFill>
              </a:rPr>
              <a:t>make_patch</a:t>
            </a:r>
            <a:r>
              <a:rPr lang="en-US" sz="2800" dirty="0">
                <a:solidFill>
                  <a:srgbClr val="C00000"/>
                </a:solidFill>
              </a:rPr>
              <a:t>, </a:t>
            </a:r>
            <a:r>
              <a:rPr lang="en-US" sz="2800" dirty="0" err="1">
                <a:solidFill>
                  <a:srgbClr val="C00000"/>
                </a:solidFill>
              </a:rPr>
              <a:t>plot_patch</a:t>
            </a:r>
            <a:r>
              <a:rPr lang="en-US" sz="2800" dirty="0">
                <a:solidFill>
                  <a:srgbClr val="C00000"/>
                </a:solidFill>
              </a:rPr>
              <a:t>, and make_contours_CH4_patch all the same level of call and call them in sequence?</a:t>
            </a:r>
          </a:p>
          <a:p>
            <a:pPr marL="812810" indent="-81281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C00000"/>
                </a:solidFill>
              </a:rPr>
              <a:t>Can we set the color table for the map and scatter to “Blues” rather than greys</a:t>
            </a:r>
          </a:p>
          <a:p>
            <a:pPr marL="812810" indent="-81281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C00000"/>
                </a:solidFill>
              </a:rPr>
              <a:t>Can we provide an alternative that over plots in red and black only the most extreme contours of fNH3 and </a:t>
            </a:r>
            <a:r>
              <a:rPr lang="en-US" sz="2800" dirty="0" err="1">
                <a:solidFill>
                  <a:srgbClr val="C00000"/>
                </a:solidFill>
              </a:rPr>
              <a:t>PCld</a:t>
            </a:r>
            <a:r>
              <a:rPr lang="en-US" sz="2800" dirty="0">
                <a:solidFill>
                  <a:srgbClr val="C00000"/>
                </a:solidFill>
              </a:rPr>
              <a:t>? This would match what was developed for the EPSC abstract in 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53C762E-5D09-52D1-13C5-2F6E131A4EFD}"/>
              </a:ext>
            </a:extLst>
          </p:cNvPr>
          <p:cNvCxnSpPr>
            <a:cxnSpLocks/>
            <a:stCxn id="20" idx="2"/>
            <a:endCxn id="6" idx="0"/>
          </p:cNvCxnSpPr>
          <p:nvPr/>
        </p:nvCxnSpPr>
        <p:spPr>
          <a:xfrm rot="5400000">
            <a:off x="3690823" y="3874040"/>
            <a:ext cx="2025761" cy="5617669"/>
          </a:xfrm>
          <a:prstGeom prst="bentConnector3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671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A224B-0645-0FE8-CC4D-2313E9566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57EE994-A3CD-1C1C-3160-431F91E5182C}"/>
              </a:ext>
            </a:extLst>
          </p:cNvPr>
          <p:cNvSpPr/>
          <p:nvPr/>
        </p:nvSpPr>
        <p:spPr>
          <a:xfrm>
            <a:off x="1146676" y="6814975"/>
            <a:ext cx="2003219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</a:t>
            </a:r>
            <a:endParaRPr lang="en-US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CB85808-5977-0C23-0630-92847C854DB5}"/>
              </a:ext>
            </a:extLst>
          </p:cNvPr>
          <p:cNvSpPr/>
          <p:nvPr/>
        </p:nvSpPr>
        <p:spPr>
          <a:xfrm>
            <a:off x="5510869" y="6814975"/>
            <a:ext cx="422733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plot_contours_on_patch</a:t>
            </a:r>
            <a:endParaRPr lang="en-US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B9DECD-5612-B648-295A-8D8E6C1CC322}"/>
              </a:ext>
            </a:extLst>
          </p:cNvPr>
          <p:cNvSpPr/>
          <p:nvPr/>
        </p:nvSpPr>
        <p:spPr>
          <a:xfrm>
            <a:off x="3446881" y="6814975"/>
            <a:ext cx="176700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plot_patch</a:t>
            </a:r>
            <a:endParaRPr lang="en-US" sz="2400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0A2653E-BC75-6071-CBCC-B8988E179974}"/>
              </a:ext>
            </a:extLst>
          </p:cNvPr>
          <p:cNvSpPr/>
          <p:nvPr/>
        </p:nvSpPr>
        <p:spPr>
          <a:xfrm>
            <a:off x="6517798" y="4572000"/>
            <a:ext cx="3220404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map_and_scatter</a:t>
            </a:r>
            <a:endParaRPr lang="en-US" sz="2400" dirty="0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621AB90-0B5B-9723-D6F9-047E5E3301BD}"/>
              </a:ext>
            </a:extLst>
          </p:cNvPr>
          <p:cNvCxnSpPr>
            <a:cxnSpLocks/>
            <a:stCxn id="21" idx="2"/>
            <a:endCxn id="7" idx="0"/>
          </p:cNvCxnSpPr>
          <p:nvPr/>
        </p:nvCxnSpPr>
        <p:spPr>
          <a:xfrm rot="5400000">
            <a:off x="7154054" y="5841026"/>
            <a:ext cx="1444435" cy="503464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3" name="Rectangle: Rounded Corners 142">
            <a:extLst>
              <a:ext uri="{FF2B5EF4-FFF2-40B4-BE49-F238E27FC236}">
                <a16:creationId xmlns:a16="http://schemas.microsoft.com/office/drawing/2014/main" id="{FA9549E7-5FF0-146C-4DA6-726B2C221A4D}"/>
              </a:ext>
            </a:extLst>
          </p:cNvPr>
          <p:cNvSpPr/>
          <p:nvPr/>
        </p:nvSpPr>
        <p:spPr>
          <a:xfrm>
            <a:off x="10049600" y="6814975"/>
            <a:ext cx="2742888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plot_roi_scatter</a:t>
            </a:r>
            <a:endParaRPr lang="en-US" sz="2400" dirty="0"/>
          </a:p>
        </p:txBody>
      </p:sp>
      <p:sp>
        <p:nvSpPr>
          <p:cNvPr id="144" name="Rectangle: Rounded Corners 143">
            <a:extLst>
              <a:ext uri="{FF2B5EF4-FFF2-40B4-BE49-F238E27FC236}">
                <a16:creationId xmlns:a16="http://schemas.microsoft.com/office/drawing/2014/main" id="{D223F6C3-F941-540B-C7DC-1F7348605330}"/>
              </a:ext>
            </a:extLst>
          </p:cNvPr>
          <p:cNvSpPr/>
          <p:nvPr/>
        </p:nvSpPr>
        <p:spPr>
          <a:xfrm>
            <a:off x="13018320" y="6814975"/>
            <a:ext cx="2681496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plot_map_scatter</a:t>
            </a:r>
            <a:endParaRPr lang="en-US" sz="2400" dirty="0"/>
          </a:p>
        </p:txBody>
      </p: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4F38CA7D-3690-6198-F6D7-8BC119CFB06B}"/>
              </a:ext>
            </a:extLst>
          </p:cNvPr>
          <p:cNvCxnSpPr>
            <a:cxnSpLocks/>
            <a:stCxn id="21" idx="2"/>
            <a:endCxn id="143" idx="0"/>
          </p:cNvCxnSpPr>
          <p:nvPr/>
        </p:nvCxnSpPr>
        <p:spPr>
          <a:xfrm rot="16200000" flipH="1">
            <a:off x="9052306" y="4446234"/>
            <a:ext cx="1444435" cy="3293044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B3DC452-8483-0B15-DD87-C9397CEE080A}"/>
              </a:ext>
            </a:extLst>
          </p:cNvPr>
          <p:cNvCxnSpPr>
            <a:cxnSpLocks/>
            <a:stCxn id="21" idx="2"/>
            <a:endCxn id="144" idx="0"/>
          </p:cNvCxnSpPr>
          <p:nvPr/>
        </p:nvCxnSpPr>
        <p:spPr>
          <a:xfrm rot="16200000" flipH="1">
            <a:off x="10521319" y="2977222"/>
            <a:ext cx="1444435" cy="6231068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Connector: Elbow 1">
            <a:extLst>
              <a:ext uri="{FF2B5EF4-FFF2-40B4-BE49-F238E27FC236}">
                <a16:creationId xmlns:a16="http://schemas.microsoft.com/office/drawing/2014/main" id="{1F231C78-7042-D3B0-5340-0309E59392E3}"/>
              </a:ext>
            </a:extLst>
          </p:cNvPr>
          <p:cNvCxnSpPr>
            <a:cxnSpLocks/>
            <a:stCxn id="21" idx="2"/>
            <a:endCxn id="11" idx="0"/>
          </p:cNvCxnSpPr>
          <p:nvPr/>
        </p:nvCxnSpPr>
        <p:spPr>
          <a:xfrm rot="5400000">
            <a:off x="5506976" y="4193947"/>
            <a:ext cx="1444435" cy="3797618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8276185-B4DD-22C7-C654-ABE96656ED07}"/>
              </a:ext>
            </a:extLst>
          </p:cNvPr>
          <p:cNvSpPr txBox="1"/>
          <p:nvPr/>
        </p:nvSpPr>
        <p:spPr>
          <a:xfrm>
            <a:off x="2504548" y="1064188"/>
            <a:ext cx="1124690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12810" indent="-81281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C00000"/>
                </a:solidFill>
              </a:rPr>
              <a:t>Can we make </a:t>
            </a:r>
            <a:r>
              <a:rPr lang="en-US" sz="2800" dirty="0" err="1">
                <a:solidFill>
                  <a:srgbClr val="C00000"/>
                </a:solidFill>
              </a:rPr>
              <a:t>make_patch</a:t>
            </a:r>
            <a:r>
              <a:rPr lang="en-US" sz="2800" dirty="0">
                <a:solidFill>
                  <a:srgbClr val="C00000"/>
                </a:solidFill>
              </a:rPr>
              <a:t>, </a:t>
            </a:r>
            <a:r>
              <a:rPr lang="en-US" sz="2800" dirty="0" err="1">
                <a:solidFill>
                  <a:srgbClr val="C00000"/>
                </a:solidFill>
              </a:rPr>
              <a:t>plot_patch</a:t>
            </a:r>
            <a:r>
              <a:rPr lang="en-US" sz="2800" dirty="0">
                <a:solidFill>
                  <a:srgbClr val="C00000"/>
                </a:solidFill>
              </a:rPr>
              <a:t>, and make_contours_CH4_patch all the same level of call and call them in sequence?</a:t>
            </a:r>
          </a:p>
          <a:p>
            <a:pPr marL="812810" indent="-81281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C00000"/>
                </a:solidFill>
              </a:rPr>
              <a:t>Can we set the color table for the map and scatter to “Blues” rather than greys</a:t>
            </a:r>
          </a:p>
          <a:p>
            <a:pPr marL="812810" indent="-81281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C00000"/>
                </a:solidFill>
              </a:rPr>
              <a:t>Can we provide an alternative that over plots in red and black only the most extreme contours of fNH3 and </a:t>
            </a:r>
            <a:r>
              <a:rPr lang="en-US" sz="2800" dirty="0" err="1">
                <a:solidFill>
                  <a:srgbClr val="C00000"/>
                </a:solidFill>
              </a:rPr>
              <a:t>PCld</a:t>
            </a:r>
            <a:r>
              <a:rPr lang="en-US" sz="2800" dirty="0">
                <a:solidFill>
                  <a:srgbClr val="C00000"/>
                </a:solidFill>
              </a:rPr>
              <a:t>?</a:t>
            </a:r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8550BD9A-483B-9318-1DC5-F64571E67730}"/>
              </a:ext>
            </a:extLst>
          </p:cNvPr>
          <p:cNvCxnSpPr>
            <a:cxnSpLocks/>
            <a:stCxn id="21" idx="2"/>
            <a:endCxn id="6" idx="0"/>
          </p:cNvCxnSpPr>
          <p:nvPr/>
        </p:nvCxnSpPr>
        <p:spPr>
          <a:xfrm rot="5400000">
            <a:off x="4415928" y="3102899"/>
            <a:ext cx="1444435" cy="5979714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6632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16689</TotalTime>
  <Words>305</Words>
  <Application>Microsoft Office PowerPoint</Application>
  <PresentationFormat>Custom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Office 2013 - 2022 Theme</vt:lpstr>
      <vt:lpstr>Map Routines Calling Trees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Hill</dc:creator>
  <cp:lastModifiedBy>Steven Hill</cp:lastModifiedBy>
  <cp:revision>17</cp:revision>
  <dcterms:created xsi:type="dcterms:W3CDTF">2025-05-12T15:19:15Z</dcterms:created>
  <dcterms:modified xsi:type="dcterms:W3CDTF">2025-11-20T16:25:50Z</dcterms:modified>
</cp:coreProperties>
</file>